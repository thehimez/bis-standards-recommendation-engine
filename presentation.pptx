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6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77CA38-D992-4559-80D7-44B51C0CE977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97955E-EC11-4D13-9107-14BB04242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316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7955E-EC11-4D13-9107-14BB04242C3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384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7955E-EC11-4D13-9107-14BB04242C3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749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7955E-EC11-4D13-9107-14BB04242C3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505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7955E-EC11-4D13-9107-14BB04242C3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808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hehimez/BIS-Standards-Recommendation-Engine" TargetMode="External"/><Relationship Id="rId2" Type="http://schemas.openxmlformats.org/officeDocument/2006/relationships/hyperlink" Target="https://youtu.be/La95MIYdW_M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ED6F1"/>
                </a:solidFill>
              </a:rPr>
              <a:t>MSE Compliance Discovery is Broken — and Costly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AED6F1"/>
                </a:solidFill>
              </a:rPr>
              <a:t>BIS Standards Recommendation Engine  |  Himesh Bhowmik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303520" cy="484632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4C430"/>
                </a:solidFill>
              </a:rP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Indian MSEs spend 2-6 weeks manually identifying applicable BIS standards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Over 19,000 IS standards — impossible to navigate without expert help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Compliance failure = penalties, export blocks, lost contracts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63 million MSEs in India face this problem daily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No affordable, automated solution existed before this project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371600"/>
            <a:ext cx="5669280" cy="4846320"/>
          </a:xfrm>
          <a:prstGeom prst="rect">
            <a:avLst/>
          </a:prstGeom>
          <a:solidFill>
            <a:srgbClr val="0B5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4C430"/>
                </a:solidFill>
              </a:rPr>
              <a:t>Why Building Materials?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9202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Highest compliance complexity in MSE sector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Cement, Steel, Concrete, Aggregates — all tightly regulated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BIS SP 21 (2005) covers 556+ standards in this domain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Single document, dense text — ideal for RAG demonstration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Direct impact on construction safety and quality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ED6F1"/>
                </a:solidFill>
              </a:rPr>
              <a:t>AI-Powered RAG Engine for Instant BIS Standard Discovery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AED6F1"/>
                </a:solidFill>
              </a:rPr>
              <a:t>BIS Standards Recommendation Engine |  Himesh Bhowmik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11430000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Enter any product description → Get the top 5 relevant BIS standards with rationale in under 100ms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743200"/>
            <a:ext cx="2697480" cy="3566160"/>
          </a:xfrm>
          <a:prstGeom prst="rect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79" y="283464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C430"/>
                </a:solidFill>
              </a:rPr>
              <a:t>Hybrid Retrieval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3429000"/>
            <a:ext cx="2514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BM25 + TF-IDF + Dense SBERT
all-MiniLM-L6-v2 embeddings
4-signal scoring fusion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2743200"/>
            <a:ext cx="2697480" cy="35661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91840" y="283464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C430"/>
                </a:solidFill>
              </a:rPr>
              <a:t>556 Standards
Indexed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429000"/>
            <a:ext cx="2514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</a:rPr>
              <a:t>BIS SP 21 (2005) fully parsed
IS-boundary chunking strategy
FAISS + BM25 corpus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59" y="2743200"/>
            <a:ext cx="2697480" cy="3566160"/>
          </a:xfrm>
          <a:prstGeom prst="rect">
            <a:avLst/>
          </a:prstGeom>
          <a:solidFill>
            <a:srgbClr val="116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72199" y="283464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C430"/>
                </a:solidFill>
              </a:rPr>
              <a:t>Streamlit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199" y="3429000"/>
            <a:ext cx="2514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Clean, single-page interface
Instant results display
Rationale for each match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19" y="2743200"/>
            <a:ext cx="2697480" cy="3566160"/>
          </a:xfrm>
          <a:prstGeom prst="rect">
            <a:avLst/>
          </a:prstGeom>
          <a:solidFill>
            <a:srgbClr val="512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52559" y="283464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C430"/>
                </a:solidFill>
              </a:rPr>
              <a:t>Eval Compliant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59" y="3429000"/>
            <a:ext cx="2514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inference.py + eval_script.py
Hit Rate @3 | MRR @5
Latency tracked per query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AED6F1"/>
                </a:solidFill>
              </a:rPr>
              <a:t>End-to-End RAG Pipeline: Retriever → Ranker → 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AED6F1"/>
                </a:solidFill>
              </a:rPr>
              <a:t>BIS Standards Recommendation Engine  |  Himesh Bhowmik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319F8DB1-727E-43CC-9A24-5E7B5CFED6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3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0F64193-26B6-0A2C-C131-36FEA4098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16179"/>
            <a:ext cx="11498008" cy="51669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Chunking &amp; Retrieval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ED6F1"/>
                </a:solidFill>
              </a:rPr>
              <a:t>IS-Boundary Chunking + 4-Signal Hybrid Scoring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AED6F1"/>
                </a:solidFill>
              </a:rPr>
              <a:t>BIS Standards Recommendation Engine |  Himesh Bhowmik</a:t>
            </a:r>
          </a:p>
        </p:txBody>
      </p:sp>
      <p:pic>
        <p:nvPicPr>
          <p:cNvPr id="7" name="Picture 6" descr="chun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25880"/>
            <a:ext cx="11612880" cy="26619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01625" y="3954780"/>
            <a:ext cx="5577840" cy="2423160"/>
          </a:xfrm>
          <a:prstGeom prst="rect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505" y="40462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C430"/>
                </a:solidFill>
              </a:rPr>
              <a:t>Chunking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505" y="445770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dirty="0">
                <a:solidFill>
                  <a:srgbClr val="FFFFFF"/>
                </a:solidFill>
              </a:rPr>
              <a:t>  One chunk per IS standard number (boundary = "IS XXXX")</a:t>
            </a:r>
          </a:p>
          <a:p>
            <a:pPr algn="l">
              <a:spcBef>
                <a:spcPts val="400"/>
              </a:spcBef>
            </a:pPr>
            <a:r>
              <a:rPr sz="1400" dirty="0">
                <a:solidFill>
                  <a:srgbClr val="FFFFFF"/>
                </a:solidFill>
              </a:rPr>
              <a:t>  Preserves title + summary + scope as a single unit</a:t>
            </a:r>
          </a:p>
          <a:p>
            <a:pPr algn="l">
              <a:spcBef>
                <a:spcPts val="400"/>
              </a:spcBef>
            </a:pPr>
            <a:r>
              <a:rPr sz="1400" dirty="0">
                <a:solidFill>
                  <a:srgbClr val="FFFFFF"/>
                </a:solidFill>
              </a:rPr>
              <a:t>  556 chunks from BIS SP 21 (2005) PDF</a:t>
            </a:r>
          </a:p>
          <a:p>
            <a:pPr algn="l">
              <a:spcBef>
                <a:spcPts val="400"/>
              </a:spcBef>
            </a:pPr>
            <a:r>
              <a:rPr sz="1400" dirty="0">
                <a:solidFill>
                  <a:srgbClr val="FFFFFF"/>
                </a:solidFill>
              </a:rPr>
              <a:t>  Cached to disk — zero-rebuild on subsequent runs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90945" y="3954780"/>
            <a:ext cx="5577840" cy="2423160"/>
          </a:xfrm>
          <a:prstGeom prst="rect">
            <a:avLst/>
          </a:prstGeom>
          <a:solidFill>
            <a:srgbClr val="0B5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825" y="40462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C430"/>
                </a:solidFill>
              </a:rPr>
              <a:t>Retrieval Scoring Formula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825" y="445770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dirty="0">
                <a:solidFill>
                  <a:srgbClr val="FFFFFF"/>
                </a:solidFill>
              </a:rPr>
              <a:t>  final = a*BM25 + b*TF-IDF + g*Dense + d*</a:t>
            </a:r>
            <a:r>
              <a:rPr sz="1400" dirty="0" err="1">
                <a:solidFill>
                  <a:srgbClr val="FFFFFF"/>
                </a:solidFill>
              </a:rPr>
              <a:t>KeywordBoost</a:t>
            </a:r>
            <a:endParaRPr sz="1400" dirty="0">
              <a:solidFill>
                <a:srgbClr val="FFFFFF"/>
              </a:solidFill>
            </a:endParaRPr>
          </a:p>
          <a:p>
            <a:pPr algn="l">
              <a:spcBef>
                <a:spcPts val="400"/>
              </a:spcBef>
            </a:pPr>
            <a:r>
              <a:rPr sz="1400" dirty="0">
                <a:solidFill>
                  <a:srgbClr val="FFFFFF"/>
                </a:solidFill>
              </a:rPr>
              <a:t>  Query expanded with domain synonyms (</a:t>
            </a:r>
            <a:r>
              <a:rPr sz="1400" dirty="0" err="1">
                <a:solidFill>
                  <a:srgbClr val="FFFFFF"/>
                </a:solidFill>
              </a:rPr>
              <a:t>enrich_query</a:t>
            </a:r>
            <a:r>
              <a:rPr sz="1400" dirty="0">
                <a:solidFill>
                  <a:srgbClr val="FFFFFF"/>
                </a:solidFill>
              </a:rPr>
              <a:t>)</a:t>
            </a:r>
          </a:p>
          <a:p>
            <a:pPr algn="l">
              <a:spcBef>
                <a:spcPts val="400"/>
              </a:spcBef>
            </a:pPr>
            <a:r>
              <a:rPr sz="1400" dirty="0">
                <a:solidFill>
                  <a:srgbClr val="FFFFFF"/>
                </a:solidFill>
              </a:rPr>
              <a:t>  Keyword boost: rewards IS-number literal hits in query</a:t>
            </a:r>
          </a:p>
          <a:p>
            <a:pPr algn="l">
              <a:spcBef>
                <a:spcPts val="400"/>
              </a:spcBef>
            </a:pPr>
            <a:r>
              <a:rPr sz="1400" dirty="0">
                <a:solidFill>
                  <a:srgbClr val="FFFFFF"/>
                </a:solidFill>
              </a:rPr>
              <a:t>  Min-max </a:t>
            </a:r>
            <a:r>
              <a:rPr sz="1400" dirty="0" err="1">
                <a:solidFill>
                  <a:srgbClr val="FFFFFF"/>
                </a:solidFill>
              </a:rPr>
              <a:t>normalisation</a:t>
            </a:r>
            <a:r>
              <a:rPr sz="1400" dirty="0">
                <a:solidFill>
                  <a:srgbClr val="FFFFFF"/>
                </a:solidFill>
              </a:rPr>
              <a:t> before fusion — avoids scale bias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Demo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AED6F1"/>
                </a:solidFill>
              </a:rPr>
              <a:t>https://bisstandardrecomender.streamlit.app/</a:t>
            </a:r>
            <a:endParaRPr sz="1600" b="0" i="0" dirty="0">
              <a:solidFill>
                <a:srgbClr val="AED6F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AED6F1"/>
                </a:solidFill>
              </a:rPr>
              <a:t>BIS Standards Recommendation Engine   |  Himesh Bhowmik</a:t>
            </a:r>
          </a:p>
        </p:txBody>
      </p:sp>
      <p:sp>
        <p:nvSpPr>
          <p:cNvPr id="8" name="Rectangle 7"/>
          <p:cNvSpPr/>
          <p:nvPr/>
        </p:nvSpPr>
        <p:spPr>
          <a:xfrm>
            <a:off x="7391400" y="1371600"/>
            <a:ext cx="4643120" cy="5001994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74280" y="1463040"/>
            <a:ext cx="43803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4C430"/>
                </a:solidFill>
              </a:rPr>
              <a:t>App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74280" y="1965960"/>
            <a:ext cx="4380302" cy="3775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dirty="0">
                <a:solidFill>
                  <a:srgbClr val="FFFFFF"/>
                </a:solidFill>
              </a:rPr>
              <a:t>  Single text box — enter any product description</a:t>
            </a:r>
          </a:p>
          <a:p>
            <a:pPr algn="l">
              <a:spcBef>
                <a:spcPts val="400"/>
              </a:spcBef>
            </a:pPr>
            <a:endParaRPr sz="1400" dirty="0">
              <a:solidFill>
                <a:srgbClr val="FFFFFF"/>
              </a:solidFill>
            </a:endParaRPr>
          </a:p>
          <a:p>
            <a:pPr algn="l">
              <a:spcBef>
                <a:spcPts val="400"/>
              </a:spcBef>
            </a:pPr>
            <a:r>
              <a:rPr sz="1400" dirty="0">
                <a:solidFill>
                  <a:srgbClr val="FFFFFF"/>
                </a:solidFill>
              </a:rPr>
              <a:t>  Returns Top 5 BIS IS standards instantly</a:t>
            </a:r>
          </a:p>
          <a:p>
            <a:pPr algn="l">
              <a:spcBef>
                <a:spcPts val="400"/>
              </a:spcBef>
            </a:pPr>
            <a:endParaRPr sz="1400" dirty="0">
              <a:solidFill>
                <a:srgbClr val="FFFFFF"/>
              </a:solidFill>
            </a:endParaRPr>
          </a:p>
          <a:p>
            <a:pPr algn="l">
              <a:spcBef>
                <a:spcPts val="400"/>
              </a:spcBef>
            </a:pPr>
            <a:r>
              <a:rPr sz="1400" dirty="0">
                <a:solidFill>
                  <a:srgbClr val="FFFFFF"/>
                </a:solidFill>
              </a:rPr>
              <a:t>  Each result shows: IS number, title, rationale</a:t>
            </a:r>
          </a:p>
          <a:p>
            <a:pPr algn="l">
              <a:spcBef>
                <a:spcPts val="400"/>
              </a:spcBef>
            </a:pPr>
            <a:endParaRPr sz="1400" dirty="0">
              <a:solidFill>
                <a:srgbClr val="FFFFFF"/>
              </a:solidFill>
            </a:endParaRPr>
          </a:p>
          <a:p>
            <a:pPr algn="l">
              <a:spcBef>
                <a:spcPts val="400"/>
              </a:spcBef>
            </a:pPr>
            <a:r>
              <a:rPr sz="1400" dirty="0">
                <a:solidFill>
                  <a:srgbClr val="FFFFFF"/>
                </a:solidFill>
              </a:rPr>
              <a:t>  Avg response time &lt; 31ms per query</a:t>
            </a:r>
          </a:p>
          <a:p>
            <a:pPr algn="l">
              <a:spcBef>
                <a:spcPts val="400"/>
              </a:spcBef>
            </a:pPr>
            <a:endParaRPr sz="1400" dirty="0">
              <a:solidFill>
                <a:srgbClr val="FFFFFF"/>
              </a:solidFill>
            </a:endParaRPr>
          </a:p>
          <a:p>
            <a:pPr algn="l">
              <a:spcBef>
                <a:spcPts val="400"/>
              </a:spcBef>
            </a:pPr>
            <a:r>
              <a:rPr sz="1400" dirty="0">
                <a:solidFill>
                  <a:srgbClr val="FFFFFF"/>
                </a:solidFill>
              </a:rPr>
              <a:t>  Runs entirely on CPU — no GPU required</a:t>
            </a:r>
          </a:p>
          <a:p>
            <a:pPr algn="l">
              <a:spcBef>
                <a:spcPts val="400"/>
              </a:spcBef>
            </a:pPr>
            <a:endParaRPr sz="1400" dirty="0">
              <a:solidFill>
                <a:srgbClr val="FFFFFF"/>
              </a:solidFill>
            </a:endParaRPr>
          </a:p>
          <a:p>
            <a:pPr algn="l">
              <a:spcBef>
                <a:spcPts val="400"/>
              </a:spcBef>
            </a:pPr>
            <a:r>
              <a:rPr sz="1400" dirty="0">
                <a:solidFill>
                  <a:srgbClr val="FFFFFF"/>
                </a:solidFill>
              </a:rPr>
              <a:t>  Deployed live on </a:t>
            </a:r>
            <a:r>
              <a:rPr sz="1400" dirty="0" err="1">
                <a:solidFill>
                  <a:srgbClr val="FFFFFF"/>
                </a:solidFill>
              </a:rPr>
              <a:t>Replit</a:t>
            </a:r>
            <a:r>
              <a:rPr sz="1400" dirty="0">
                <a:solidFill>
                  <a:srgbClr val="FFFFFF"/>
                </a:solidFill>
              </a:rPr>
              <a:t> (</a:t>
            </a:r>
            <a:r>
              <a:rPr sz="1400" dirty="0" err="1">
                <a:solidFill>
                  <a:srgbClr val="FFFFFF"/>
                </a:solidFill>
              </a:rPr>
              <a:t>Streamlit</a:t>
            </a:r>
            <a:r>
              <a:rPr sz="1400" dirty="0">
                <a:solidFill>
                  <a:srgbClr val="FFFFFF"/>
                </a:solidFill>
              </a:rPr>
              <a:t> server)</a:t>
            </a:r>
          </a:p>
          <a:p>
            <a:pPr algn="l">
              <a:spcBef>
                <a:spcPts val="400"/>
              </a:spcBef>
            </a:pPr>
            <a:endParaRPr sz="1400" dirty="0">
              <a:solidFill>
                <a:srgbClr val="FFFFFF"/>
              </a:solidFill>
            </a:endParaRPr>
          </a:p>
          <a:p>
            <a:pPr algn="l">
              <a:spcBef>
                <a:spcPts val="400"/>
              </a:spcBef>
            </a:pPr>
            <a:r>
              <a:rPr sz="1400" dirty="0">
                <a:solidFill>
                  <a:srgbClr val="FFFFFF"/>
                </a:solidFill>
              </a:rPr>
              <a:t>  First session: ~15s model warmup</a:t>
            </a:r>
          </a:p>
          <a:p>
            <a:pPr algn="l">
              <a:spcBef>
                <a:spcPts val="400"/>
              </a:spcBef>
            </a:pPr>
            <a:r>
              <a:rPr sz="1400" dirty="0">
                <a:solidFill>
                  <a:srgbClr val="FFFFFF"/>
                </a:solidFill>
              </a:rPr>
              <a:t>  Subsequent queries: &lt;100ms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73E75A0-98B0-2F2C-B499-F1499340E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43" y="1546352"/>
            <a:ext cx="6791960" cy="447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Evaluation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ED6F1"/>
                </a:solidFill>
              </a:rPr>
              <a:t>Public Test Set: 10 Queries | eval_script.py compliant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AED6F1"/>
                </a:solidFill>
              </a:rPr>
              <a:t>BIS Standards Recommendation Engine |  Himesh Bhowmik</a:t>
            </a:r>
          </a:p>
        </p:txBody>
      </p:sp>
      <p:pic>
        <p:nvPicPr>
          <p:cNvPr id="7" name="Picture 6" descr="eval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09336"/>
            <a:ext cx="11064240" cy="35638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148072"/>
            <a:ext cx="3474720" cy="1234440"/>
          </a:xfrm>
          <a:prstGeom prst="rect">
            <a:avLst/>
          </a:prstGeom>
          <a:solidFill>
            <a:srgbClr val="00C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519379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Hit Rate @3: 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696712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</a:rPr>
              <a:t>The correct standard appeared
in the top 3 results for ALL
10 public test queries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5148072"/>
            <a:ext cx="3474720" cy="123444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519379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MRR @5: 0.7833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5696712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Mean Reciprocal Rank — the
correct standard ranks on
average in position ~1.3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5148072"/>
            <a:ext cx="3474720" cy="12344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80" y="519379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Avg Latency: 30.7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5696712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Per-query retrieval time
well under real-time threshold
(100ms target)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Impact on MSEs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ED6F1"/>
                </a:solidFill>
              </a:rPr>
              <a:t>Accelerating BIS Compliance for 63 Million Small Businesses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AED6F1"/>
                </a:solidFill>
              </a:rPr>
              <a:t>BIS Standards Recommendation Engine  |  Himesh Bhowmik</a:t>
            </a:r>
          </a:p>
        </p:txBody>
      </p:sp>
      <p:pic>
        <p:nvPicPr>
          <p:cNvPr id="7" name="Picture 6" descr="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11612880" cy="3200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4389120"/>
            <a:ext cx="11430000" cy="196596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44582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F4C430"/>
                </a:solidFill>
              </a:rPr>
              <a:t>Real-World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22952"/>
            <a:ext cx="10972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dirty="0">
                <a:solidFill>
                  <a:srgbClr val="FFFFFF"/>
                </a:solidFill>
              </a:rPr>
              <a:t>  Eliminates weeks of manual BIS document search — any MSE can self-serve compliance queries instantly</a:t>
            </a:r>
          </a:p>
          <a:p>
            <a:pPr algn="l">
              <a:spcBef>
                <a:spcPts val="400"/>
              </a:spcBef>
            </a:pPr>
            <a:r>
              <a:rPr sz="1400" dirty="0">
                <a:solidFill>
                  <a:srgbClr val="FFFFFF"/>
                </a:solidFill>
              </a:rPr>
              <a:t>  Reduces dependency on expensive consultants for standard identification in the Building Materials sector</a:t>
            </a:r>
          </a:p>
          <a:p>
            <a:pPr algn="l">
              <a:spcBef>
                <a:spcPts val="400"/>
              </a:spcBef>
            </a:pPr>
            <a:r>
              <a:rPr sz="1400" dirty="0">
                <a:solidFill>
                  <a:srgbClr val="FFFFFF"/>
                </a:solidFill>
              </a:rPr>
              <a:t>  Extendable to all 19,000+ BIS standards across sectors — textiles, electronics, food safety, and more</a:t>
            </a:r>
          </a:p>
          <a:p>
            <a:pPr algn="l">
              <a:spcBef>
                <a:spcPts val="400"/>
              </a:spcBef>
            </a:pPr>
            <a:r>
              <a:rPr sz="1400" dirty="0">
                <a:solidFill>
                  <a:srgbClr val="FFFFFF"/>
                </a:solidFill>
              </a:rPr>
              <a:t>  Open-source, deployable on standard hardware — zero GPU required, suitable for government/SME portals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Team &amp; Acknowledgements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ED6F1"/>
                </a:solidFill>
              </a:rPr>
              <a:t>BIS Standards Recommendation Engine — 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AED6F1"/>
                </a:solidFill>
              </a:rPr>
              <a:t>BIS Standards Recommendation Engine |  Himesh Bhowmik</a:t>
            </a:r>
          </a:p>
        </p:txBody>
      </p:sp>
      <p:sp>
        <p:nvSpPr>
          <p:cNvPr id="7" name="Rectangle 6"/>
          <p:cNvSpPr/>
          <p:nvPr/>
        </p:nvSpPr>
        <p:spPr>
          <a:xfrm>
            <a:off x="2138680" y="1407160"/>
            <a:ext cx="7975600" cy="3229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2468880" y="1600200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4C430"/>
                </a:solidFill>
              </a:rPr>
              <a:t>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148840"/>
            <a:ext cx="722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 dirty="0">
                <a:solidFill>
                  <a:srgbClr val="FFFFFF"/>
                </a:solidFill>
              </a:rPr>
              <a:t>Himesh Bhowmik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834640"/>
            <a:ext cx="7223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AED6F1"/>
                </a:solidFill>
              </a:rPr>
              <a:t>   BIS Standards Recommendation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0505" y="3214283"/>
            <a:ext cx="72237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 dirty="0">
                <a:solidFill>
                  <a:srgbClr val="AED6F1"/>
                </a:solidFill>
              </a:rPr>
              <a:t>Built end-to-end during the hackathon window
</a:t>
            </a:r>
            <a:r>
              <a:rPr sz="1400" b="0" i="1" dirty="0" err="1">
                <a:solidFill>
                  <a:srgbClr val="AED6F1"/>
                </a:solidFill>
              </a:rPr>
              <a:t>Streamlit</a:t>
            </a:r>
            <a:r>
              <a:rPr sz="1400" b="0" i="1" dirty="0">
                <a:solidFill>
                  <a:srgbClr val="AED6F1"/>
                </a:solidFill>
              </a:rPr>
              <a:t>  |  SBERT  |  FAISS  |  BM25  |  Python</a:t>
            </a:r>
            <a:r>
              <a:rPr lang="en-US" sz="1400" b="0" i="1" dirty="0">
                <a:solidFill>
                  <a:srgbClr val="AED6F1"/>
                </a:solidFill>
              </a:rPr>
              <a:t> | Claude Code</a:t>
            </a:r>
            <a:r>
              <a:rPr sz="1400" b="0" i="1" dirty="0">
                <a:solidFill>
                  <a:srgbClr val="AED6F1"/>
                </a:solidFill>
              </a:rPr>
              <a:t> </a:t>
            </a:r>
            <a:endParaRPr lang="en-US" sz="1400" b="0" i="1" dirty="0">
              <a:solidFill>
                <a:srgbClr val="AED6F1"/>
              </a:solidFill>
            </a:endParaRPr>
          </a:p>
          <a:p>
            <a:pPr algn="ctr"/>
            <a:endParaRPr lang="en-US" sz="1400" i="1" dirty="0">
              <a:solidFill>
                <a:srgbClr val="AED6F1"/>
              </a:solidFill>
            </a:endParaRPr>
          </a:p>
          <a:p>
            <a:pPr algn="ctr"/>
            <a:r>
              <a:rPr lang="en-US" sz="1400" b="0" i="1" dirty="0" err="1">
                <a:solidFill>
                  <a:srgbClr val="AED6F1"/>
                </a:solidFill>
              </a:rPr>
              <a:t>Youtube</a:t>
            </a:r>
            <a:r>
              <a:rPr lang="en-US" sz="1400" i="1" dirty="0">
                <a:solidFill>
                  <a:srgbClr val="AED6F1"/>
                </a:solidFill>
              </a:rPr>
              <a:t> link </a:t>
            </a:r>
            <a:r>
              <a:rPr lang="en-US" sz="1400" i="1" dirty="0">
                <a:solidFill>
                  <a:schemeClr val="bg1"/>
                </a:solidFill>
                <a:hlinkClick r:id="rId2"/>
              </a:rPr>
              <a:t>https://youtu.be/La95MIYdW_M</a:t>
            </a:r>
            <a:endParaRPr lang="en-US" sz="1400" i="1" dirty="0">
              <a:solidFill>
                <a:schemeClr val="bg1"/>
              </a:solidFill>
            </a:endParaRPr>
          </a:p>
          <a:p>
            <a:pPr algn="ctr"/>
            <a:r>
              <a:rPr lang="en-US" sz="1400" i="1" dirty="0">
                <a:solidFill>
                  <a:schemeClr val="bg1"/>
                </a:solidFill>
              </a:rPr>
              <a:t>Git Repo Link  </a:t>
            </a:r>
            <a:r>
              <a:rPr lang="en-US" sz="1400" i="1" dirty="0">
                <a:solidFill>
                  <a:schemeClr val="bg1"/>
                </a:solidFill>
                <a:hlinkClick r:id="rId3"/>
              </a:rPr>
              <a:t>https://github.com/thehimez/BIS-Standards-Recommendation-Engine</a:t>
            </a:r>
            <a:endParaRPr lang="en-US" sz="1400" i="1" dirty="0">
              <a:solidFill>
                <a:schemeClr val="bg1"/>
              </a:solidFill>
            </a:endParaRPr>
          </a:p>
          <a:p>
            <a:pPr algn="ctr"/>
            <a:endParaRPr lang="en-US" sz="1400" b="0" i="1" dirty="0">
              <a:solidFill>
                <a:schemeClr val="bg1"/>
              </a:solidFill>
            </a:endParaRPr>
          </a:p>
          <a:p>
            <a:pPr algn="ctr"/>
            <a:endParaRPr lang="en-US" sz="1400" i="1" dirty="0">
              <a:solidFill>
                <a:schemeClr val="bg1"/>
              </a:solidFill>
            </a:endParaRPr>
          </a:p>
          <a:p>
            <a:pPr algn="ctr"/>
            <a:endParaRPr lang="en-US" sz="1400" b="0" i="1" dirty="0">
              <a:solidFill>
                <a:schemeClr val="bg1"/>
              </a:solidFill>
            </a:endParaRPr>
          </a:p>
          <a:p>
            <a:pPr algn="ctr"/>
            <a:endParaRPr sz="1400" b="0" i="1" dirty="0">
              <a:solidFill>
                <a:srgbClr val="AED6F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65760" y="4838192"/>
            <a:ext cx="5303520" cy="1554480"/>
          </a:xfrm>
          <a:prstGeom prst="rect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4911344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4C430"/>
                </a:solidFill>
              </a:rPr>
              <a:t>Acknowledgements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295392"/>
            <a:ext cx="4937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Bureau of Indian Standards (BIS) — SP 21 dataset</a:t>
            </a:r>
          </a:p>
          <a:p>
            <a:pPr algn="l"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Hugging Face — sentence-transformers model</a:t>
            </a:r>
          </a:p>
          <a:p>
            <a:pPr algn="l"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SS Innovations — Hackathon organizers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4838192"/>
            <a:ext cx="5669280" cy="1554480"/>
          </a:xfrm>
          <a:prstGeom prst="rect">
            <a:avLst/>
          </a:prstGeom>
          <a:solidFill>
            <a:srgbClr val="0B5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491134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C430"/>
                </a:solidFill>
              </a:rPr>
              <a:t>Tech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5295392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Python  |  </a:t>
            </a:r>
            <a:r>
              <a:rPr sz="1300" dirty="0" err="1">
                <a:solidFill>
                  <a:srgbClr val="FFFFFF"/>
                </a:solidFill>
              </a:rPr>
              <a:t>Streamlit</a:t>
            </a:r>
            <a:r>
              <a:rPr sz="1300" dirty="0">
                <a:solidFill>
                  <a:srgbClr val="FFFFFF"/>
                </a:solidFill>
              </a:rPr>
              <a:t>  |  sentence-transformers</a:t>
            </a:r>
          </a:p>
          <a:p>
            <a:pPr algn="l"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rank-bm25  |  scikit-learn  |  </a:t>
            </a:r>
            <a:r>
              <a:rPr sz="1300" dirty="0" err="1">
                <a:solidFill>
                  <a:srgbClr val="FFFFFF"/>
                </a:solidFill>
              </a:rPr>
              <a:t>faiss-cpu</a:t>
            </a:r>
            <a:r>
              <a:rPr sz="1300" dirty="0">
                <a:solidFill>
                  <a:srgbClr val="FFFFFF"/>
                </a:solidFill>
              </a:rPr>
              <a:t>  |  </a:t>
            </a:r>
            <a:r>
              <a:rPr sz="1300" dirty="0" err="1">
                <a:solidFill>
                  <a:srgbClr val="FFFFFF"/>
                </a:solidFill>
              </a:rPr>
              <a:t>PyMuPDF</a:t>
            </a:r>
            <a:endParaRPr sz="1300" dirty="0">
              <a:solidFill>
                <a:srgbClr val="FFFFFF"/>
              </a:solidFill>
            </a:endParaRPr>
          </a:p>
          <a:p>
            <a:pPr algn="l"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</a:t>
            </a:r>
            <a:r>
              <a:rPr sz="1300" dirty="0" err="1">
                <a:solidFill>
                  <a:srgbClr val="FFFFFF"/>
                </a:solidFill>
              </a:rPr>
              <a:t>Replit</a:t>
            </a:r>
            <a:r>
              <a:rPr sz="1300" dirty="0">
                <a:solidFill>
                  <a:srgbClr val="FFFFFF"/>
                </a:solidFill>
              </a:rPr>
              <a:t>  |  GitHub  |  SBERT all-MiniLM-L6-v2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638</TotalTime>
  <Words>752</Words>
  <Application>Microsoft Office PowerPoint</Application>
  <PresentationFormat>Custom</PresentationFormat>
  <Paragraphs>103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thehimez</dc:creator>
  <cp:keywords/>
  <dc:description>generated using python-pptx</dc:description>
  <cp:lastModifiedBy>thehimez</cp:lastModifiedBy>
  <cp:revision>6</cp:revision>
  <dcterms:created xsi:type="dcterms:W3CDTF">2013-01-27T09:14:16Z</dcterms:created>
  <dcterms:modified xsi:type="dcterms:W3CDTF">2026-05-03T11:56:24Z</dcterms:modified>
  <cp:category/>
</cp:coreProperties>
</file>